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0" r:id="rId14"/>
    <p:sldId id="271" r:id="rId15"/>
    <p:sldId id="261" r:id="rId16"/>
    <p:sldId id="26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85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6/11/2026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6/11/2026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16.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slide" Target="slide14.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ítulo 2">
            <a:extLst>
              <a:ext uri="{FF2B5EF4-FFF2-40B4-BE49-F238E27FC236}">
                <a16:creationId xmlns:a16="http://schemas.microsoft.com/office/drawing/2014/main" id="{2C7BFBCD-53EE-4267-880F-7C33813E4ADB}"/>
              </a:ext>
            </a:extLst>
          </p:cNvPr>
          <p:cNvSpPr txBox="1">
            <a:spLocks/>
          </p:cNvSpPr>
          <p:nvPr/>
        </p:nvSpPr>
        <p:spPr>
          <a:xfrm>
            <a:off x="1656219" y="1293779"/>
            <a:ext cx="8665553" cy="5260526"/>
          </a:xfrm>
          <a:prstGeom prst="rect">
            <a:avLst/>
          </a:prstGeom>
        </p:spPr>
        <p:txBody>
          <a:bodyPr vert="horz" lIns="91440" tIns="45720" rIns="91440" bIns="45720" rtlCol="0" anchor="b">
            <a:normAutofit fontScale="77500" lnSpcReduction="20000"/>
          </a:bodyPr>
          <a:lstStyle>
            <a:lvl1pPr marL="0" indent="0" algn="r" defTabSz="914400" rtl="0" eaLnBrk="1" latinLnBrk="0" hangingPunct="1">
              <a:lnSpc>
                <a:spcPct val="90000"/>
              </a:lnSpc>
              <a:spcBef>
                <a:spcPts val="1000"/>
              </a:spcBef>
              <a:buFont typeface="Arial" panose="020B0604020202020204" pitchFamily="34" charset="0"/>
              <a:buNone/>
              <a:defRPr sz="3200" b="0" kern="120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Instituto Tecnológico Nacional de México</a:t>
            </a:r>
          </a:p>
          <a:p>
            <a:pPr algn="ct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Instituto Tecnológico  de Frontera Comalapa</a:t>
            </a:r>
          </a:p>
          <a:p>
            <a:pPr algn="ct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Ingeniería en Sistemas Computacionales</a:t>
            </a:r>
          </a:p>
          <a:p>
            <a:pPr algn="ctr"/>
            <a:endPar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Programación web</a:t>
            </a:r>
          </a:p>
          <a:p>
            <a:pPr algn="ctr"/>
            <a:endPar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Actividad 4.2 Reporte de práctica </a:t>
            </a:r>
          </a:p>
          <a:p>
            <a:pPr algn="ctr">
              <a:lnSpc>
                <a:spcPct val="120000"/>
              </a:lnSpc>
              <a:spcAft>
                <a:spcPts val="800"/>
              </a:spcAft>
            </a:pP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Docente</a:t>
            </a:r>
          </a:p>
          <a:p>
            <a:pPr algn="ctr">
              <a:lnSpc>
                <a:spcPct val="120000"/>
              </a:lnSpc>
              <a:spcAft>
                <a:spcPts val="800"/>
              </a:spcAft>
            </a:pPr>
            <a:r>
              <a:rPr lang="es-MX" sz="2300"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Ing. Francisco Javier Mingo Velázquez</a:t>
            </a:r>
          </a:p>
          <a:p>
            <a:pPr algn="ctr">
              <a:lnSpc>
                <a:spcPct val="120000"/>
              </a:lnSpc>
              <a:spcAft>
                <a:spcPts val="800"/>
              </a:spcAft>
            </a:pPr>
            <a:endPar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lnSpc>
                <a:spcPct val="120000"/>
              </a:lnSpc>
              <a:spcAft>
                <a:spcPts val="800"/>
              </a:spcAft>
            </a:pP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Estudiante</a:t>
            </a:r>
          </a:p>
          <a:p>
            <a:pPr algn="ctr">
              <a:lnSpc>
                <a:spcPct val="120000"/>
              </a:lnSpc>
              <a:spcAft>
                <a:spcPts val="800"/>
              </a:spcAft>
            </a:pPr>
            <a:r>
              <a:rPr lang="es-MX" sz="2300"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Dixie Dayana Peña González </a:t>
            </a: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#Control: </a:t>
            </a:r>
            <a:r>
              <a:rPr lang="es-MX" sz="2300"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221260063</a:t>
            </a:r>
          </a:p>
          <a:p>
            <a:pPr algn="ctr">
              <a:lnSpc>
                <a:spcPct val="120000"/>
              </a:lnSpc>
              <a:spcAft>
                <a:spcPts val="800"/>
              </a:spcAft>
            </a:pPr>
            <a:r>
              <a:rPr lang="es-MX" sz="2300" b="1" dirty="0">
                <a:solidFill>
                  <a:schemeClr val="bg2">
                    <a:lumMod val="20000"/>
                    <a:lumOff val="8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Frontera Comalapa Chiapas,  A 04 de junio del 2026</a:t>
            </a:r>
          </a:p>
          <a:p>
            <a:endParaRPr lang="es-MX" dirty="0"/>
          </a:p>
        </p:txBody>
      </p:sp>
      <p:pic>
        <p:nvPicPr>
          <p:cNvPr id="5" name="Imagen 4">
            <a:extLst>
              <a:ext uri="{FF2B5EF4-FFF2-40B4-BE49-F238E27FC236}">
                <a16:creationId xmlns:a16="http://schemas.microsoft.com/office/drawing/2014/main" id="{4C0543A4-A8F4-4BB3-A7F5-8A2E2EBE3EFD}"/>
              </a:ext>
            </a:extLst>
          </p:cNvPr>
          <p:cNvPicPr/>
          <p:nvPr/>
        </p:nvPicPr>
        <p:blipFill rotWithShape="1">
          <a:blip r:embed="rId2"/>
          <a:srcRect l="905" t="8280" b="-1"/>
          <a:stretch/>
        </p:blipFill>
        <p:spPr bwMode="auto">
          <a:xfrm>
            <a:off x="2325298" y="0"/>
            <a:ext cx="6785519" cy="7591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2168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40502F-BFED-46A9-AB0A-FE1599018F64}"/>
              </a:ext>
            </a:extLst>
          </p:cNvPr>
          <p:cNvSpPr>
            <a:spLocks noGrp="1"/>
          </p:cNvSpPr>
          <p:nvPr>
            <p:ph type="title"/>
          </p:nvPr>
        </p:nvSpPr>
        <p:spPr/>
        <p:txBody>
          <a:bodyPr/>
          <a:lstStyle/>
          <a:p>
            <a:r>
              <a:rPr lang="es-MX" dirty="0"/>
              <a:t>Índice </a:t>
            </a:r>
          </a:p>
        </p:txBody>
      </p:sp>
      <p:sp>
        <p:nvSpPr>
          <p:cNvPr id="3" name="Marcador de contenido 2">
            <a:extLst>
              <a:ext uri="{FF2B5EF4-FFF2-40B4-BE49-F238E27FC236}">
                <a16:creationId xmlns:a16="http://schemas.microsoft.com/office/drawing/2014/main" id="{83760EB3-84BE-405D-A681-42938D11F033}"/>
              </a:ext>
            </a:extLst>
          </p:cNvPr>
          <p:cNvSpPr>
            <a:spLocks noGrp="1"/>
          </p:cNvSpPr>
          <p:nvPr>
            <p:ph idx="1"/>
          </p:nvPr>
        </p:nvSpPr>
        <p:spPr/>
        <p:txBody>
          <a:bodyPr/>
          <a:lstStyle/>
          <a:p>
            <a:r>
              <a:rPr lang="es-MX" dirty="0">
                <a:hlinkClick r:id="rId2" action="ppaction://hlinksldjump"/>
              </a:rPr>
              <a:t>Introducción …………………………………………………………………3</a:t>
            </a:r>
            <a:endParaRPr lang="es-MX" dirty="0"/>
          </a:p>
          <a:p>
            <a:r>
              <a:rPr lang="es-MX" dirty="0">
                <a:hlinkClick r:id="rId3" action="ppaction://hlinksldjump"/>
              </a:rPr>
              <a:t>Justificación …………………………………………………………………4</a:t>
            </a:r>
            <a:endParaRPr lang="es-MX" dirty="0"/>
          </a:p>
          <a:p>
            <a:r>
              <a:rPr lang="es-MX" dirty="0">
                <a:hlinkClick r:id="rId4" action="ppaction://hlinksldjump"/>
              </a:rPr>
              <a:t>Desarrollo de avances del proyecto “Turismo Comalapa”……..5</a:t>
            </a:r>
            <a:endParaRPr lang="es-MX" dirty="0"/>
          </a:p>
          <a:p>
            <a:r>
              <a:rPr lang="es-MX" dirty="0">
                <a:hlinkClick r:id="rId5" action="ppaction://hlinksldjump"/>
              </a:rPr>
              <a:t>Base de datos………………………………………………………………14</a:t>
            </a:r>
            <a:endParaRPr lang="es-MX" dirty="0"/>
          </a:p>
          <a:p>
            <a:r>
              <a:rPr lang="es-MX" dirty="0">
                <a:hlinkClick r:id="rId6" action="ppaction://hlinksldjump"/>
              </a:rPr>
              <a:t>Conclusión ………………………………………………………………….15</a:t>
            </a:r>
            <a:endParaRPr lang="es-MX" dirty="0"/>
          </a:p>
          <a:p>
            <a:r>
              <a:rPr lang="es-MX" dirty="0">
                <a:hlinkClick r:id="rId7" action="ppaction://hlinksldjump"/>
              </a:rPr>
              <a:t>Anexo código fuente …………………………………………………....16</a:t>
            </a:r>
            <a:endParaRPr lang="es-MX" dirty="0"/>
          </a:p>
        </p:txBody>
      </p:sp>
    </p:spTree>
    <p:extLst>
      <p:ext uri="{BB962C8B-B14F-4D97-AF65-F5344CB8AC3E}">
        <p14:creationId xmlns:p14="http://schemas.microsoft.com/office/powerpoint/2010/main" val="303769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2D952-9269-4742-8C2D-7D81D328921E}"/>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68B73F33-3CD1-4CFC-AFEF-C34A5B0D860D}"/>
              </a:ext>
            </a:extLst>
          </p:cNvPr>
          <p:cNvSpPr>
            <a:spLocks noGrp="1"/>
          </p:cNvSpPr>
          <p:nvPr>
            <p:ph idx="1"/>
          </p:nvPr>
        </p:nvSpPr>
        <p:spPr/>
        <p:txBody>
          <a:bodyPr/>
          <a:lstStyle/>
          <a:p>
            <a:pPr algn="just"/>
            <a:r>
              <a:rPr lang="es-MX" dirty="0"/>
              <a:t>El objetivo es desarrollar una aplicación web para el sector turístico de Frontera Comalapa, en el cual se podrán visualizar publicaciones de lugares turísticos del municipio.</a:t>
            </a:r>
          </a:p>
          <a:p>
            <a:pPr algn="just"/>
            <a:r>
              <a:rPr lang="es-MX" dirty="0"/>
              <a:t>Se pretende dar a conocer la parte lógica del sistema, explicar los avances en el frontend y el backend que ayudan a que cada ves se vaya mejorando más visual y lógicamente este sistema.</a:t>
            </a:r>
          </a:p>
          <a:p>
            <a:pPr algn="just"/>
            <a:r>
              <a:rPr lang="es-MX" dirty="0"/>
              <a:t>Aquí las tecnologías que estamos utilizando es Angular y Supabase.</a:t>
            </a:r>
          </a:p>
        </p:txBody>
      </p:sp>
    </p:spTree>
    <p:extLst>
      <p:ext uri="{BB962C8B-B14F-4D97-AF65-F5344CB8AC3E}">
        <p14:creationId xmlns:p14="http://schemas.microsoft.com/office/powerpoint/2010/main" val="68306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04038A-B81C-4903-B065-BD017C54882C}"/>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DD370C65-1CFB-45B8-A44B-02E51952A128}"/>
              </a:ext>
            </a:extLst>
          </p:cNvPr>
          <p:cNvSpPr>
            <a:spLocks noGrp="1"/>
          </p:cNvSpPr>
          <p:nvPr>
            <p:ph idx="1"/>
          </p:nvPr>
        </p:nvSpPr>
        <p:spPr/>
        <p:txBody>
          <a:bodyPr/>
          <a:lstStyle/>
          <a:p>
            <a:pPr algn="just"/>
            <a:r>
              <a:rPr lang="es-MX" dirty="0"/>
              <a:t>La presente documentación del avance del código del proyecto tiene como finalidad proporcionar una vista clara de la lógica implementada en el desarrollo de Turismo Comalapa. Al analizar los componentes de la interfaz, los servicios de comunicación con la base de datos y la configuración del sistema, este reporte no solo documenta el proceso, sino que ayuda a comprender la arquitectura, el flujo de datos y la lógica detrás de plataforma.</a:t>
            </a:r>
          </a:p>
        </p:txBody>
      </p:sp>
    </p:spTree>
    <p:extLst>
      <p:ext uri="{BB962C8B-B14F-4D97-AF65-F5344CB8AC3E}">
        <p14:creationId xmlns:p14="http://schemas.microsoft.com/office/powerpoint/2010/main" val="1547505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6966B5-A32E-4EC8-80EC-4B08A8507334}"/>
              </a:ext>
            </a:extLst>
          </p:cNvPr>
          <p:cNvSpPr>
            <a:spLocks noGrp="1"/>
          </p:cNvSpPr>
          <p:nvPr>
            <p:ph type="title"/>
          </p:nvPr>
        </p:nvSpPr>
        <p:spPr/>
        <p:txBody>
          <a:bodyPr/>
          <a:lstStyle/>
          <a:p>
            <a:r>
              <a:rPr lang="es-MX" dirty="0"/>
              <a:t>Desarrollo de avances del proyecto</a:t>
            </a:r>
            <a:br>
              <a:rPr lang="es-MX" dirty="0"/>
            </a:br>
            <a:r>
              <a:rPr lang="es-MX" dirty="0"/>
              <a:t>“Turismo Comalapa”</a:t>
            </a:r>
          </a:p>
        </p:txBody>
      </p:sp>
      <p:sp>
        <p:nvSpPr>
          <p:cNvPr id="3" name="Marcador de contenido 2">
            <a:extLst>
              <a:ext uri="{FF2B5EF4-FFF2-40B4-BE49-F238E27FC236}">
                <a16:creationId xmlns:a16="http://schemas.microsoft.com/office/drawing/2014/main" id="{C5A36FCE-451C-4999-BF1C-439B931970C2}"/>
              </a:ext>
            </a:extLst>
          </p:cNvPr>
          <p:cNvSpPr>
            <a:spLocks noGrp="1"/>
          </p:cNvSpPr>
          <p:nvPr>
            <p:ph idx="1"/>
          </p:nvPr>
        </p:nvSpPr>
        <p:spPr>
          <a:xfrm>
            <a:off x="3869268" y="864107"/>
            <a:ext cx="7315200" cy="5007303"/>
          </a:xfrm>
        </p:spPr>
        <p:txBody>
          <a:bodyPr/>
          <a:lstStyle/>
          <a:p>
            <a:pPr marL="0" indent="0">
              <a:buNone/>
            </a:pPr>
            <a:r>
              <a:rPr lang="es-MX" b="1" dirty="0"/>
              <a:t>Arquitectura actual del proyecto  (Frontend – Angular).</a:t>
            </a:r>
          </a:p>
          <a:p>
            <a:pPr algn="just"/>
            <a:r>
              <a:rPr lang="es-MX" dirty="0"/>
              <a:t>Componentes: aquí se encuentra la lógica y vista de la interfaz dividida en módulos funcionales que son los siguientes:</a:t>
            </a:r>
          </a:p>
          <a:p>
            <a:pPr lvl="1" algn="just"/>
            <a:r>
              <a:rPr lang="es-MX" dirty="0"/>
              <a:t>Dashboard-</a:t>
            </a:r>
            <a:r>
              <a:rPr lang="es-MX" dirty="0" err="1"/>
              <a:t>admin</a:t>
            </a:r>
            <a:r>
              <a:rPr lang="es-MX" dirty="0"/>
              <a:t>: Panel de control para el administrador.</a:t>
            </a:r>
          </a:p>
          <a:p>
            <a:pPr lvl="1" algn="just"/>
            <a:r>
              <a:rPr lang="es-MX" dirty="0"/>
              <a:t>Dashboard-usuario: Panel personalizado para usuarios registrados.</a:t>
            </a:r>
          </a:p>
          <a:p>
            <a:pPr lvl="1" algn="just"/>
            <a:r>
              <a:rPr lang="es-MX" dirty="0" err="1"/>
              <a:t>login</a:t>
            </a:r>
            <a:r>
              <a:rPr lang="es-MX" dirty="0"/>
              <a:t>.: Gestión de acceso y autenticación.</a:t>
            </a:r>
          </a:p>
          <a:p>
            <a:pPr lvl="1" algn="just"/>
            <a:r>
              <a:rPr lang="es-MX" dirty="0"/>
              <a:t>Nueva-publicación: formulario para crear contenido.</a:t>
            </a:r>
          </a:p>
          <a:p>
            <a:pPr lvl="1" algn="just"/>
            <a:r>
              <a:rPr lang="es-MX" dirty="0"/>
              <a:t>Registro: formulario para nuevos usuarios.</a:t>
            </a:r>
          </a:p>
          <a:p>
            <a:pPr algn="just"/>
            <a:r>
              <a:rPr lang="es-MX" dirty="0"/>
              <a:t>Servicios: esta es la capa para la comunicación con el backend.</a:t>
            </a:r>
          </a:p>
          <a:p>
            <a:pPr lvl="1" algn="just"/>
            <a:r>
              <a:rPr lang="es-MX" dirty="0" err="1"/>
              <a:t>Supabase.service.ts</a:t>
            </a:r>
            <a:r>
              <a:rPr lang="es-MX" dirty="0"/>
              <a:t>: maneja la conexión principal y autenticación con Supabase.</a:t>
            </a:r>
          </a:p>
          <a:p>
            <a:pPr lvl="1" algn="just"/>
            <a:r>
              <a:rPr lang="es-MX" dirty="0" err="1"/>
              <a:t>Publicaciones.service.ts</a:t>
            </a:r>
            <a:r>
              <a:rPr lang="es-MX" dirty="0"/>
              <a:t>: maneja las operaciones CRUD relacionadas con el contenido.</a:t>
            </a:r>
          </a:p>
          <a:p>
            <a:pPr algn="just"/>
            <a:r>
              <a:rPr lang="es-MX" dirty="0"/>
              <a:t>Interfaces: aquí se definen los modelos de datos (tipado </a:t>
            </a:r>
            <a:r>
              <a:rPr lang="es-MX" dirty="0" err="1"/>
              <a:t>TypeCsript</a:t>
            </a:r>
            <a:r>
              <a:rPr lang="es-MX" dirty="0"/>
              <a:t>).</a:t>
            </a:r>
          </a:p>
        </p:txBody>
      </p:sp>
    </p:spTree>
    <p:extLst>
      <p:ext uri="{BB962C8B-B14F-4D97-AF65-F5344CB8AC3E}">
        <p14:creationId xmlns:p14="http://schemas.microsoft.com/office/powerpoint/2010/main" val="280683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B41F11F-4DAB-41B2-8FDD-B3D0D3C800EE}"/>
              </a:ext>
            </a:extLst>
          </p:cNvPr>
          <p:cNvSpPr>
            <a:spLocks noGrp="1"/>
          </p:cNvSpPr>
          <p:nvPr>
            <p:ph idx="1"/>
          </p:nvPr>
        </p:nvSpPr>
        <p:spPr/>
        <p:txBody>
          <a:bodyPr/>
          <a:lstStyle/>
          <a:p>
            <a:pPr marL="0" indent="0">
              <a:buNone/>
            </a:pPr>
            <a:r>
              <a:rPr lang="es-MX" b="1" dirty="0"/>
              <a:t>Implementación del Backend (Supabase):</a:t>
            </a:r>
          </a:p>
          <a:p>
            <a:pPr algn="just"/>
            <a:r>
              <a:rPr lang="es-MX" dirty="0"/>
              <a:t> autenticación: para esto utilicé el servicio de Supabase para manejar el registro e inicio de sesión de forma segura sin gestionar un servidor propio.</a:t>
            </a:r>
          </a:p>
          <a:p>
            <a:pPr algn="just"/>
            <a:r>
              <a:rPr lang="es-MX" dirty="0"/>
              <a:t>Base de datos: definimos los modelos en el archivo database.interface.ts en donde definimos la estructura de las tablas.</a:t>
            </a:r>
          </a:p>
          <a:p>
            <a:pPr algn="just"/>
            <a:r>
              <a:rPr lang="es-MX" dirty="0"/>
              <a:t>Flujo de datos: aquí el frontend envía peticiones desde el archivo publicaciones.service.ts hacia las tablas de Supabase para ir almacenando y recuperando datos de las publicaciones que se tienen.</a:t>
            </a:r>
          </a:p>
        </p:txBody>
      </p:sp>
    </p:spTree>
    <p:extLst>
      <p:ext uri="{BB962C8B-B14F-4D97-AF65-F5344CB8AC3E}">
        <p14:creationId xmlns:p14="http://schemas.microsoft.com/office/powerpoint/2010/main" val="47765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C6B9D5-E04F-4765-B4AC-8ADE3B392805}"/>
              </a:ext>
            </a:extLst>
          </p:cNvPr>
          <p:cNvSpPr>
            <a:spLocks noGrp="1"/>
          </p:cNvSpPr>
          <p:nvPr>
            <p:ph idx="1"/>
          </p:nvPr>
        </p:nvSpPr>
        <p:spPr>
          <a:xfrm>
            <a:off x="3853226" y="607434"/>
            <a:ext cx="7315200" cy="2564892"/>
          </a:xfrm>
        </p:spPr>
        <p:txBody>
          <a:bodyPr/>
          <a:lstStyle/>
          <a:p>
            <a:pPr algn="just"/>
            <a:r>
              <a:rPr lang="es-MX" dirty="0"/>
              <a:t>Se trabajó en el </a:t>
            </a:r>
            <a:r>
              <a:rPr lang="es-MX" b="1" dirty="0"/>
              <a:t>dashboard del administrador</a:t>
            </a:r>
            <a:r>
              <a:rPr lang="es-MX" dirty="0"/>
              <a:t>, este a través de la inyección de dependencias se comunica con </a:t>
            </a:r>
            <a:r>
              <a:rPr lang="es-MX" dirty="0" err="1"/>
              <a:t>PublicacionesService</a:t>
            </a:r>
            <a:r>
              <a:rPr lang="es-MX" dirty="0"/>
              <a:t> para centralizar la carga de datos y la gestión de estados (aprobación/rechazo) de las publicaciones.</a:t>
            </a:r>
            <a:endParaRPr lang="es-MX" b="1" dirty="0"/>
          </a:p>
        </p:txBody>
      </p:sp>
      <p:pic>
        <p:nvPicPr>
          <p:cNvPr id="5" name="Imagen 4">
            <a:extLst>
              <a:ext uri="{FF2B5EF4-FFF2-40B4-BE49-F238E27FC236}">
                <a16:creationId xmlns:a16="http://schemas.microsoft.com/office/drawing/2014/main" id="{03C7B735-04B0-4D06-9BC8-D9F3851D98E6}"/>
              </a:ext>
            </a:extLst>
          </p:cNvPr>
          <p:cNvPicPr>
            <a:picLocks noChangeAspect="1"/>
          </p:cNvPicPr>
          <p:nvPr/>
        </p:nvPicPr>
        <p:blipFill>
          <a:blip r:embed="rId2"/>
          <a:stretch>
            <a:fillRect/>
          </a:stretch>
        </p:blipFill>
        <p:spPr>
          <a:xfrm>
            <a:off x="3853226" y="2750217"/>
            <a:ext cx="6561221" cy="3690687"/>
          </a:xfrm>
          <a:prstGeom prst="rect">
            <a:avLst/>
          </a:prstGeom>
        </p:spPr>
      </p:pic>
    </p:spTree>
    <p:extLst>
      <p:ext uri="{BB962C8B-B14F-4D97-AF65-F5344CB8AC3E}">
        <p14:creationId xmlns:p14="http://schemas.microsoft.com/office/powerpoint/2010/main" val="4085612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5EDA374-F932-48AC-A268-DF9035E73D7B}"/>
              </a:ext>
            </a:extLst>
          </p:cNvPr>
          <p:cNvSpPr>
            <a:spLocks noGrp="1"/>
          </p:cNvSpPr>
          <p:nvPr>
            <p:ph idx="1"/>
          </p:nvPr>
        </p:nvSpPr>
        <p:spPr/>
        <p:txBody>
          <a:bodyPr/>
          <a:lstStyle/>
          <a:p>
            <a:pPr algn="just"/>
            <a:r>
              <a:rPr lang="es-MX" dirty="0"/>
              <a:t>En el </a:t>
            </a:r>
            <a:r>
              <a:rPr lang="es-MX" b="1" dirty="0"/>
              <a:t>dashboard usuario</a:t>
            </a:r>
            <a:r>
              <a:rPr lang="es-MX" dirty="0"/>
              <a:t>, este a diferencia del administrador, tiene capacidades de CRUD sobre sus propios recursos, permitiéndole ver publicaciones públicas y gestionar las suyas.</a:t>
            </a:r>
          </a:p>
          <a:p>
            <a:pPr algn="just"/>
            <a:r>
              <a:rPr lang="es-MX" dirty="0"/>
              <a:t>Para editar se usa </a:t>
            </a:r>
            <a:r>
              <a:rPr lang="es-MX" dirty="0" err="1"/>
              <a:t>signal</a:t>
            </a:r>
            <a:r>
              <a:rPr lang="es-MX" dirty="0"/>
              <a:t>&lt;</a:t>
            </a:r>
            <a:r>
              <a:rPr lang="es-MX" dirty="0" err="1"/>
              <a:t>number</a:t>
            </a:r>
            <a:r>
              <a:rPr lang="es-MX" dirty="0"/>
              <a:t> | </a:t>
            </a:r>
            <a:r>
              <a:rPr lang="es-MX" dirty="0" err="1"/>
              <a:t>null</a:t>
            </a:r>
            <a:r>
              <a:rPr lang="es-MX" dirty="0"/>
              <a:t>&gt; (</a:t>
            </a:r>
            <a:r>
              <a:rPr lang="es-MX" dirty="0" err="1"/>
              <a:t>null</a:t>
            </a:r>
            <a:r>
              <a:rPr lang="es-MX" dirty="0"/>
              <a:t>) para manejar qué elemento está siendo editado. </a:t>
            </a:r>
          </a:p>
          <a:p>
            <a:pPr algn="just"/>
            <a:r>
              <a:rPr lang="es-MX" dirty="0"/>
              <a:t>Para la gestión de carga de datos (</a:t>
            </a:r>
            <a:r>
              <a:rPr lang="es-MX" dirty="0" err="1"/>
              <a:t>ngOInit</a:t>
            </a:r>
            <a:r>
              <a:rPr lang="es-MX" dirty="0"/>
              <a:t>), ya que permite diferenciar entre las publicaciones aceptadas por otros y las que son propias del usuario.</a:t>
            </a:r>
          </a:p>
          <a:p>
            <a:pPr algn="just"/>
            <a:r>
              <a:rPr lang="es-MX" dirty="0"/>
              <a:t>También aquí se crearon los métodos de </a:t>
            </a:r>
            <a:r>
              <a:rPr lang="es-MX" dirty="0" err="1"/>
              <a:t>activarEdicion</a:t>
            </a:r>
            <a:r>
              <a:rPr lang="es-MX" dirty="0"/>
              <a:t> y </a:t>
            </a:r>
            <a:r>
              <a:rPr lang="es-MX" dirty="0" err="1"/>
              <a:t>guardarCambios</a:t>
            </a:r>
            <a:r>
              <a:rPr lang="es-MX" dirty="0"/>
              <a:t>. Y finalmente como experiencia del usuario (UX) le añadí validaciones básicas (</a:t>
            </a:r>
            <a:r>
              <a:rPr lang="es-MX" dirty="0" err="1"/>
              <a:t>confirm</a:t>
            </a:r>
            <a:r>
              <a:rPr lang="es-MX" dirty="0"/>
              <a:t>) </a:t>
            </a:r>
            <a:r>
              <a:rPr lang="es-MX" dirty="0" err="1"/>
              <a:t>abtes</a:t>
            </a:r>
            <a:r>
              <a:rPr lang="es-MX" dirty="0"/>
              <a:t> de ejecutar operaciones </a:t>
            </a:r>
            <a:r>
              <a:rPr lang="es-MX" dirty="0" err="1"/>
              <a:t>destructuvas</a:t>
            </a:r>
            <a:r>
              <a:rPr lang="es-MX" dirty="0"/>
              <a:t> (eliminar).</a:t>
            </a:r>
          </a:p>
        </p:txBody>
      </p:sp>
    </p:spTree>
    <p:extLst>
      <p:ext uri="{BB962C8B-B14F-4D97-AF65-F5344CB8AC3E}">
        <p14:creationId xmlns:p14="http://schemas.microsoft.com/office/powerpoint/2010/main" val="3495851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DC9F6A7-3BA7-45F2-B39B-096694EBFBDB}"/>
              </a:ext>
            </a:extLst>
          </p:cNvPr>
          <p:cNvPicPr>
            <a:picLocks noChangeAspect="1"/>
          </p:cNvPicPr>
          <p:nvPr/>
        </p:nvPicPr>
        <p:blipFill>
          <a:blip r:embed="rId2"/>
          <a:stretch>
            <a:fillRect/>
          </a:stretch>
        </p:blipFill>
        <p:spPr>
          <a:xfrm>
            <a:off x="3513220" y="1418725"/>
            <a:ext cx="8101263" cy="4556960"/>
          </a:xfrm>
          <a:prstGeom prst="rect">
            <a:avLst/>
          </a:prstGeom>
        </p:spPr>
      </p:pic>
    </p:spTree>
    <p:extLst>
      <p:ext uri="{BB962C8B-B14F-4D97-AF65-F5344CB8AC3E}">
        <p14:creationId xmlns:p14="http://schemas.microsoft.com/office/powerpoint/2010/main" val="552346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710BD9A-0829-44DA-BDA8-0B6ED2EA5A5B}"/>
              </a:ext>
            </a:extLst>
          </p:cNvPr>
          <p:cNvSpPr>
            <a:spLocks noGrp="1"/>
          </p:cNvSpPr>
          <p:nvPr>
            <p:ph idx="1"/>
          </p:nvPr>
        </p:nvSpPr>
        <p:spPr>
          <a:xfrm>
            <a:off x="3609474" y="0"/>
            <a:ext cx="8056257" cy="2564892"/>
          </a:xfrm>
        </p:spPr>
        <p:txBody>
          <a:bodyPr/>
          <a:lstStyle/>
          <a:p>
            <a:pPr algn="just"/>
            <a:r>
              <a:rPr lang="es-MX" dirty="0"/>
              <a:t>El siguiente es el componente </a:t>
            </a:r>
            <a:r>
              <a:rPr lang="es-MX" dirty="0" err="1"/>
              <a:t>login</a:t>
            </a:r>
            <a:r>
              <a:rPr lang="es-MX" dirty="0"/>
              <a:t>, su función es gestionar la identidad del usuario antes de permitirle entrar a los </a:t>
            </a:r>
            <a:r>
              <a:rPr lang="es-MX" dirty="0" err="1"/>
              <a:t>dashboards</a:t>
            </a:r>
            <a:r>
              <a:rPr lang="es-MX" dirty="0"/>
              <a:t>.</a:t>
            </a:r>
          </a:p>
          <a:p>
            <a:pPr algn="just"/>
            <a:r>
              <a:rPr lang="es-MX" dirty="0"/>
              <a:t>Utilizamos  </a:t>
            </a:r>
            <a:r>
              <a:rPr lang="es-MX" dirty="0" err="1"/>
              <a:t>ReactiveFormsModule</a:t>
            </a:r>
            <a:r>
              <a:rPr lang="es-MX" dirty="0"/>
              <a:t> y </a:t>
            </a:r>
            <a:r>
              <a:rPr lang="es-MX" dirty="0" err="1"/>
              <a:t>FormBuilder</a:t>
            </a:r>
            <a:r>
              <a:rPr lang="es-MX" dirty="0"/>
              <a:t> para aplicar reglas de validación en el lado del cliente antes de enviar cualquier petición.</a:t>
            </a:r>
          </a:p>
          <a:p>
            <a:pPr algn="just"/>
            <a:r>
              <a:rPr lang="es-MX" dirty="0"/>
              <a:t>Mantiene un procesamiento asíncrono ya que emplea </a:t>
            </a:r>
            <a:r>
              <a:rPr lang="es-MX" dirty="0" err="1"/>
              <a:t>async</a:t>
            </a:r>
            <a:r>
              <a:rPr lang="es-MX" dirty="0"/>
              <a:t>/</a:t>
            </a:r>
            <a:r>
              <a:rPr lang="es-MX" dirty="0" err="1"/>
              <a:t>await</a:t>
            </a:r>
            <a:r>
              <a:rPr lang="es-MX" dirty="0"/>
              <a:t> para gestionar la comunicación con Supabase.</a:t>
            </a:r>
          </a:p>
        </p:txBody>
      </p:sp>
      <p:pic>
        <p:nvPicPr>
          <p:cNvPr id="5" name="Imagen 4">
            <a:extLst>
              <a:ext uri="{FF2B5EF4-FFF2-40B4-BE49-F238E27FC236}">
                <a16:creationId xmlns:a16="http://schemas.microsoft.com/office/drawing/2014/main" id="{96266CB6-1804-4BDA-A4D8-2B360EDCAF2C}"/>
              </a:ext>
            </a:extLst>
          </p:cNvPr>
          <p:cNvPicPr>
            <a:picLocks noChangeAspect="1"/>
          </p:cNvPicPr>
          <p:nvPr/>
        </p:nvPicPr>
        <p:blipFill>
          <a:blip r:embed="rId2"/>
          <a:stretch>
            <a:fillRect/>
          </a:stretch>
        </p:blipFill>
        <p:spPr>
          <a:xfrm>
            <a:off x="3609474" y="2564892"/>
            <a:ext cx="7400756" cy="4162925"/>
          </a:xfrm>
          <a:prstGeom prst="rect">
            <a:avLst/>
          </a:prstGeom>
        </p:spPr>
      </p:pic>
    </p:spTree>
    <p:extLst>
      <p:ext uri="{BB962C8B-B14F-4D97-AF65-F5344CB8AC3E}">
        <p14:creationId xmlns:p14="http://schemas.microsoft.com/office/powerpoint/2010/main" val="4070337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710BD9A-0829-44DA-BDA8-0B6ED2EA5A5B}"/>
              </a:ext>
            </a:extLst>
          </p:cNvPr>
          <p:cNvSpPr>
            <a:spLocks noGrp="1"/>
          </p:cNvSpPr>
          <p:nvPr>
            <p:ph idx="1"/>
          </p:nvPr>
        </p:nvSpPr>
        <p:spPr>
          <a:xfrm>
            <a:off x="3821142" y="270550"/>
            <a:ext cx="7315200" cy="2564892"/>
          </a:xfrm>
        </p:spPr>
        <p:txBody>
          <a:bodyPr/>
          <a:lstStyle/>
          <a:p>
            <a:r>
              <a:rPr lang="es-MX" dirty="0"/>
              <a:t>El componente </a:t>
            </a:r>
            <a:r>
              <a:rPr lang="es-MX" b="1" dirty="0"/>
              <a:t>NuevaPublicacionComponent </a:t>
            </a:r>
            <a:r>
              <a:rPr lang="es-MX" dirty="0"/>
              <a:t>representa la capa de entrada de datos del sistema. Es donde el usuario genera contenido nuevo, utiliza </a:t>
            </a:r>
            <a:r>
              <a:rPr lang="es-MX" dirty="0" err="1"/>
              <a:t>FormBuilder</a:t>
            </a:r>
            <a:r>
              <a:rPr lang="es-MX" dirty="0"/>
              <a:t> para vincular los campos con la base de datos, que </a:t>
            </a:r>
            <a:r>
              <a:rPr lang="es-MX" dirty="0" err="1"/>
              <a:t>coinidan</a:t>
            </a:r>
            <a:r>
              <a:rPr lang="es-MX" dirty="0"/>
              <a:t> vaya.</a:t>
            </a:r>
          </a:p>
          <a:p>
            <a:pPr algn="just"/>
            <a:r>
              <a:rPr lang="es-MX" dirty="0"/>
              <a:t>Se trabajó con </a:t>
            </a:r>
            <a:r>
              <a:rPr lang="es-MX" dirty="0" err="1"/>
              <a:t>FileReader</a:t>
            </a:r>
            <a:r>
              <a:rPr lang="es-MX" dirty="0"/>
              <a:t> para convertir los archivos seleccionados en local a formato </a:t>
            </a:r>
            <a:r>
              <a:rPr lang="es-MX" dirty="0" err="1"/>
              <a:t>DataURL</a:t>
            </a:r>
            <a:r>
              <a:rPr lang="es-MX" dirty="0"/>
              <a:t>; esto permite una previsualización inmediata en la interfaz antes de realizar la subida al servidor.</a:t>
            </a:r>
          </a:p>
        </p:txBody>
      </p:sp>
      <p:pic>
        <p:nvPicPr>
          <p:cNvPr id="4" name="Imagen 3">
            <a:extLst>
              <a:ext uri="{FF2B5EF4-FFF2-40B4-BE49-F238E27FC236}">
                <a16:creationId xmlns:a16="http://schemas.microsoft.com/office/drawing/2014/main" id="{81EFB051-277E-4C99-96EA-16562E5E9BD3}"/>
              </a:ext>
            </a:extLst>
          </p:cNvPr>
          <p:cNvPicPr>
            <a:picLocks noChangeAspect="1"/>
          </p:cNvPicPr>
          <p:nvPr/>
        </p:nvPicPr>
        <p:blipFill>
          <a:blip r:embed="rId2"/>
          <a:stretch>
            <a:fillRect/>
          </a:stretch>
        </p:blipFill>
        <p:spPr>
          <a:xfrm>
            <a:off x="4112573" y="2835442"/>
            <a:ext cx="6732337" cy="3786940"/>
          </a:xfrm>
          <a:prstGeom prst="rect">
            <a:avLst/>
          </a:prstGeom>
        </p:spPr>
      </p:pic>
    </p:spTree>
    <p:extLst>
      <p:ext uri="{BB962C8B-B14F-4D97-AF65-F5344CB8AC3E}">
        <p14:creationId xmlns:p14="http://schemas.microsoft.com/office/powerpoint/2010/main" val="3948773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710BD9A-0829-44DA-BDA8-0B6ED2EA5A5B}"/>
              </a:ext>
            </a:extLst>
          </p:cNvPr>
          <p:cNvSpPr>
            <a:spLocks noGrp="1"/>
          </p:cNvSpPr>
          <p:nvPr>
            <p:ph idx="1"/>
          </p:nvPr>
        </p:nvSpPr>
        <p:spPr>
          <a:xfrm>
            <a:off x="3869268" y="864108"/>
            <a:ext cx="7315200" cy="1782839"/>
          </a:xfrm>
        </p:spPr>
        <p:txBody>
          <a:bodyPr/>
          <a:lstStyle/>
          <a:p>
            <a:pPr algn="just"/>
            <a:r>
              <a:rPr lang="es-MX" dirty="0"/>
              <a:t>Aquí tenemos la </a:t>
            </a:r>
            <a:r>
              <a:rPr lang="es-MX" b="1" dirty="0"/>
              <a:t>configuración global</a:t>
            </a:r>
            <a:r>
              <a:rPr lang="es-MX" dirty="0"/>
              <a:t> en el archivo </a:t>
            </a:r>
            <a:r>
              <a:rPr lang="es-MX" b="1" dirty="0" err="1"/>
              <a:t>app.config.ts</a:t>
            </a:r>
            <a:r>
              <a:rPr lang="es-MX" dirty="0"/>
              <a:t>, este contiene la conexión directa con supabase mediante la URL </a:t>
            </a:r>
            <a:r>
              <a:rPr lang="es-MX" dirty="0" err="1"/>
              <a:t>yy</a:t>
            </a:r>
            <a:r>
              <a:rPr lang="es-MX" dirty="0"/>
              <a:t> </a:t>
            </a:r>
            <a:r>
              <a:rPr lang="es-MX" dirty="0" err="1"/>
              <a:t>key</a:t>
            </a:r>
            <a:r>
              <a:rPr lang="es-MX" dirty="0"/>
              <a:t> (toquen de autenticación).</a:t>
            </a:r>
          </a:p>
          <a:p>
            <a:pPr algn="just"/>
            <a:r>
              <a:rPr lang="es-MX" dirty="0"/>
              <a:t>Define los servicios que estarán disponibles en toda la aplicación.</a:t>
            </a:r>
          </a:p>
        </p:txBody>
      </p:sp>
      <p:pic>
        <p:nvPicPr>
          <p:cNvPr id="4" name="Imagen 3">
            <a:extLst>
              <a:ext uri="{FF2B5EF4-FFF2-40B4-BE49-F238E27FC236}">
                <a16:creationId xmlns:a16="http://schemas.microsoft.com/office/drawing/2014/main" id="{6C77DA47-F06D-41F4-B268-1258724B6F12}"/>
              </a:ext>
            </a:extLst>
          </p:cNvPr>
          <p:cNvPicPr>
            <a:picLocks noChangeAspect="1"/>
          </p:cNvPicPr>
          <p:nvPr/>
        </p:nvPicPr>
        <p:blipFill>
          <a:blip r:embed="rId2"/>
          <a:stretch>
            <a:fillRect/>
          </a:stretch>
        </p:blipFill>
        <p:spPr>
          <a:xfrm>
            <a:off x="4270320" y="2953752"/>
            <a:ext cx="6513095" cy="3663616"/>
          </a:xfrm>
          <a:prstGeom prst="rect">
            <a:avLst/>
          </a:prstGeom>
        </p:spPr>
      </p:pic>
    </p:spTree>
    <p:extLst>
      <p:ext uri="{BB962C8B-B14F-4D97-AF65-F5344CB8AC3E}">
        <p14:creationId xmlns:p14="http://schemas.microsoft.com/office/powerpoint/2010/main" val="1286722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710BD9A-0829-44DA-BDA8-0B6ED2EA5A5B}"/>
              </a:ext>
            </a:extLst>
          </p:cNvPr>
          <p:cNvSpPr>
            <a:spLocks noGrp="1"/>
          </p:cNvSpPr>
          <p:nvPr>
            <p:ph idx="1"/>
          </p:nvPr>
        </p:nvSpPr>
        <p:spPr>
          <a:xfrm>
            <a:off x="3580511" y="174298"/>
            <a:ext cx="8130226" cy="2248060"/>
          </a:xfrm>
        </p:spPr>
        <p:txBody>
          <a:bodyPr/>
          <a:lstStyle/>
          <a:p>
            <a:pPr algn="just"/>
            <a:r>
              <a:rPr lang="es-MX" dirty="0"/>
              <a:t>Vamos con otro archivo importante que es </a:t>
            </a:r>
            <a:r>
              <a:rPr lang="es-MX" b="1" dirty="0"/>
              <a:t>supabase.service.ts </a:t>
            </a:r>
            <a:r>
              <a:rPr lang="es-MX" dirty="0"/>
              <a:t>que su propósito centralizar la lógica de autenticación y gestión de datos relacionales; en pocas palabras, maneja la comunicación asíncrona con el backend, consulta datos mediante el método getPerfil y con el signUp implementa una lógica de registro .</a:t>
            </a:r>
          </a:p>
        </p:txBody>
      </p:sp>
      <p:pic>
        <p:nvPicPr>
          <p:cNvPr id="4" name="Imagen 3">
            <a:extLst>
              <a:ext uri="{FF2B5EF4-FFF2-40B4-BE49-F238E27FC236}">
                <a16:creationId xmlns:a16="http://schemas.microsoft.com/office/drawing/2014/main" id="{A74A0A2C-750A-4691-9C56-E11587724F71}"/>
              </a:ext>
            </a:extLst>
          </p:cNvPr>
          <p:cNvPicPr>
            <a:picLocks noChangeAspect="1"/>
          </p:cNvPicPr>
          <p:nvPr/>
        </p:nvPicPr>
        <p:blipFill>
          <a:blip r:embed="rId2"/>
          <a:stretch>
            <a:fillRect/>
          </a:stretch>
        </p:blipFill>
        <p:spPr>
          <a:xfrm>
            <a:off x="4061774" y="2422358"/>
            <a:ext cx="6705600" cy="3771900"/>
          </a:xfrm>
          <a:prstGeom prst="rect">
            <a:avLst/>
          </a:prstGeom>
        </p:spPr>
      </p:pic>
    </p:spTree>
    <p:extLst>
      <p:ext uri="{BB962C8B-B14F-4D97-AF65-F5344CB8AC3E}">
        <p14:creationId xmlns:p14="http://schemas.microsoft.com/office/powerpoint/2010/main" val="3770989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B911CA-53DE-488E-BE9E-2881BE1DB11D}"/>
              </a:ext>
            </a:extLst>
          </p:cNvPr>
          <p:cNvSpPr>
            <a:spLocks noGrp="1"/>
          </p:cNvSpPr>
          <p:nvPr>
            <p:ph type="title"/>
          </p:nvPr>
        </p:nvSpPr>
        <p:spPr/>
        <p:txBody>
          <a:bodyPr/>
          <a:lstStyle/>
          <a:p>
            <a:r>
              <a:rPr lang="es-MX" dirty="0"/>
              <a:t>Base de datos</a:t>
            </a:r>
          </a:p>
        </p:txBody>
      </p:sp>
      <p:sp>
        <p:nvSpPr>
          <p:cNvPr id="3" name="Marcador de contenido 2">
            <a:extLst>
              <a:ext uri="{FF2B5EF4-FFF2-40B4-BE49-F238E27FC236}">
                <a16:creationId xmlns:a16="http://schemas.microsoft.com/office/drawing/2014/main" id="{C40D3C78-0D4A-4DC6-BBA1-FFE898CD06A2}"/>
              </a:ext>
            </a:extLst>
          </p:cNvPr>
          <p:cNvSpPr>
            <a:spLocks noGrp="1"/>
          </p:cNvSpPr>
          <p:nvPr>
            <p:ph idx="1"/>
          </p:nvPr>
        </p:nvSpPr>
        <p:spPr>
          <a:xfrm>
            <a:off x="3869268" y="864108"/>
            <a:ext cx="7315200" cy="2296187"/>
          </a:xfrm>
        </p:spPr>
        <p:txBody>
          <a:bodyPr>
            <a:normAutofit lnSpcReduction="10000"/>
          </a:bodyPr>
          <a:lstStyle/>
          <a:p>
            <a:pPr algn="just"/>
            <a:r>
              <a:rPr lang="es-MX" dirty="0"/>
              <a:t>El diseño de la base de datos sigue un modelo relacional, optimizado. La estructura se compone de  3 entidades clave: publicaciones, usuarios e imagenes_publicacion.</a:t>
            </a:r>
          </a:p>
          <a:p>
            <a:pPr algn="just"/>
            <a:r>
              <a:rPr lang="es-MX" dirty="0"/>
              <a:t>La integración con el sistema de autenticación de supabase (auth.users) permite gestionar de forma segura los permisos y la propiedad de los datos, mientras que la separación de las imágenes en una tabla dedicada nos facilita la escalabilidad y el manejo de contenido multimedia.</a:t>
            </a:r>
          </a:p>
        </p:txBody>
      </p:sp>
      <p:pic>
        <p:nvPicPr>
          <p:cNvPr id="5" name="Imagen 4">
            <a:extLst>
              <a:ext uri="{FF2B5EF4-FFF2-40B4-BE49-F238E27FC236}">
                <a16:creationId xmlns:a16="http://schemas.microsoft.com/office/drawing/2014/main" id="{AEC25D5C-C7D6-44A5-AF7A-F823C6B07C3A}"/>
              </a:ext>
            </a:extLst>
          </p:cNvPr>
          <p:cNvPicPr>
            <a:picLocks noChangeAspect="1"/>
          </p:cNvPicPr>
          <p:nvPr/>
        </p:nvPicPr>
        <p:blipFill>
          <a:blip r:embed="rId2"/>
          <a:stretch>
            <a:fillRect/>
          </a:stretch>
        </p:blipFill>
        <p:spPr>
          <a:xfrm>
            <a:off x="4812630" y="3290886"/>
            <a:ext cx="5600033" cy="3150018"/>
          </a:xfrm>
          <a:prstGeom prst="rect">
            <a:avLst/>
          </a:prstGeom>
        </p:spPr>
      </p:pic>
    </p:spTree>
    <p:extLst>
      <p:ext uri="{BB962C8B-B14F-4D97-AF65-F5344CB8AC3E}">
        <p14:creationId xmlns:p14="http://schemas.microsoft.com/office/powerpoint/2010/main" val="2825398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1977D9-FB2A-4840-A924-4C2DCCA3E295}"/>
              </a:ext>
            </a:extLst>
          </p:cNvPr>
          <p:cNvSpPr>
            <a:spLocks noGrp="1"/>
          </p:cNvSpPr>
          <p:nvPr>
            <p:ph type="title"/>
          </p:nvPr>
        </p:nvSpPr>
        <p:spPr/>
        <p:txBody>
          <a:bodyPr/>
          <a:lstStyle/>
          <a:p>
            <a:r>
              <a:rPr lang="es-MX" dirty="0"/>
              <a:t>Conclusión</a:t>
            </a:r>
          </a:p>
        </p:txBody>
      </p:sp>
      <p:sp>
        <p:nvSpPr>
          <p:cNvPr id="3" name="Marcador de contenido 2">
            <a:extLst>
              <a:ext uri="{FF2B5EF4-FFF2-40B4-BE49-F238E27FC236}">
                <a16:creationId xmlns:a16="http://schemas.microsoft.com/office/drawing/2014/main" id="{AD9ADD15-81AA-4BBF-B1E5-4B12671FAAD7}"/>
              </a:ext>
            </a:extLst>
          </p:cNvPr>
          <p:cNvSpPr>
            <a:spLocks noGrp="1"/>
          </p:cNvSpPr>
          <p:nvPr>
            <p:ph idx="1"/>
          </p:nvPr>
        </p:nvSpPr>
        <p:spPr/>
        <p:txBody>
          <a:bodyPr/>
          <a:lstStyle/>
          <a:p>
            <a:pPr algn="just"/>
            <a:r>
              <a:rPr lang="es-MX" dirty="0"/>
              <a:t>En conclusión, se abordaron los archivos principales donde se presentó código y el objetivo de cada uno de ellos en el proyecto; además, se explicaron brevemente la funcionalidad de cada uno de ellos y nos centramos más en los avances que se estuvieron haciendo que por ejemplo uno que más impacto tiene en este reporte es el de la identificación de roles como administrador y como usuario, por otro lado la estructura de las tablas en supabase se abordó de manera muy breve ya que el objetivo era presentar más el código que es lo que más importa.</a:t>
            </a:r>
          </a:p>
        </p:txBody>
      </p:sp>
    </p:spTree>
    <p:extLst>
      <p:ext uri="{BB962C8B-B14F-4D97-AF65-F5344CB8AC3E}">
        <p14:creationId xmlns:p14="http://schemas.microsoft.com/office/powerpoint/2010/main" val="3424809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E0490B-6BD2-4392-8C01-CBC7906AD76B}"/>
              </a:ext>
            </a:extLst>
          </p:cNvPr>
          <p:cNvSpPr>
            <a:spLocks noGrp="1"/>
          </p:cNvSpPr>
          <p:nvPr>
            <p:ph type="title"/>
          </p:nvPr>
        </p:nvSpPr>
        <p:spPr/>
        <p:txBody>
          <a:bodyPr/>
          <a:lstStyle/>
          <a:p>
            <a:r>
              <a:rPr lang="es-MX" dirty="0"/>
              <a:t>Anexo código fuente</a:t>
            </a:r>
          </a:p>
        </p:txBody>
      </p:sp>
      <p:sp>
        <p:nvSpPr>
          <p:cNvPr id="3" name="Marcador de contenido 2">
            <a:extLst>
              <a:ext uri="{FF2B5EF4-FFF2-40B4-BE49-F238E27FC236}">
                <a16:creationId xmlns:a16="http://schemas.microsoft.com/office/drawing/2014/main" id="{68067656-0E3D-4DCE-90FB-8F8647BE0C85}"/>
              </a:ext>
            </a:extLst>
          </p:cNvPr>
          <p:cNvSpPr>
            <a:spLocks noGrp="1"/>
          </p:cNvSpPr>
          <p:nvPr>
            <p:ph idx="1"/>
          </p:nvPr>
        </p:nvSpPr>
        <p:spPr/>
        <p:txBody>
          <a:bodyPr/>
          <a:lstStyle/>
          <a:p>
            <a:r>
              <a:rPr lang="es-MX" dirty="0"/>
              <a:t>https://github.com/Girl-creator2004/PW_T4_Programacion_del_lado_del_servidor.git</a:t>
            </a:r>
          </a:p>
        </p:txBody>
      </p:sp>
    </p:spTree>
    <p:extLst>
      <p:ext uri="{BB962C8B-B14F-4D97-AF65-F5344CB8AC3E}">
        <p14:creationId xmlns:p14="http://schemas.microsoft.com/office/powerpoint/2010/main" val="1879356635"/>
      </p:ext>
    </p:extLst>
  </p:cSld>
  <p:clrMapOvr>
    <a:masterClrMapping/>
  </p:clrMapOvr>
</p:sld>
</file>

<file path=ppt/theme/theme1.xml><?xml version="1.0" encoding="utf-8"?>
<a:theme xmlns:a="http://schemas.openxmlformats.org/drawingml/2006/main" name="Marco">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{B0ED8112-780C-4A03-982F-B33E53A7DA80}TF5b254a55-10e1-4643-bbf8-937ce7de93d8bc5839fd-bc74414b3bbe</Template>
  <TotalTime>92</TotalTime>
  <Words>1049</Words>
  <Application>Microsoft Office PowerPoint</Application>
  <PresentationFormat>Panorámica</PresentationFormat>
  <Paragraphs>62</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Corbel</vt:lpstr>
      <vt:lpstr>Wingdings 2</vt:lpstr>
      <vt:lpstr>Marco</vt:lpstr>
      <vt:lpstr>Presentación de PowerPoint</vt:lpstr>
      <vt:lpstr>Índice </vt:lpstr>
      <vt:lpstr>Introducción</vt:lpstr>
      <vt:lpstr>Justificación </vt:lpstr>
      <vt:lpstr>Desarrollo de avances del proyecto “Turismo Comalapa”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Base de datos</vt:lpstr>
      <vt:lpstr>Conclusión</vt:lpstr>
      <vt:lpstr>Anexo código fuente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Dixie Peña</dc:creator>
  <cp:lastModifiedBy>Dixie Peña</cp:lastModifiedBy>
  <cp:revision>11</cp:revision>
  <dcterms:created xsi:type="dcterms:W3CDTF">2026-06-11T14:26:39Z</dcterms:created>
  <dcterms:modified xsi:type="dcterms:W3CDTF">2026-06-12T05:44:22Z</dcterms:modified>
</cp:coreProperties>
</file>